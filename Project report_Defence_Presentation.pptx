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0"/>
  </p:notesMasterIdLst>
  <p:sldIdLst>
    <p:sldId id="531" r:id="rId2"/>
    <p:sldId id="514" r:id="rId3"/>
    <p:sldId id="515" r:id="rId4"/>
    <p:sldId id="543" r:id="rId5"/>
    <p:sldId id="517" r:id="rId6"/>
    <p:sldId id="518" r:id="rId7"/>
    <p:sldId id="542" r:id="rId8"/>
    <p:sldId id="520" r:id="rId9"/>
    <p:sldId id="521" r:id="rId10"/>
    <p:sldId id="532" r:id="rId11"/>
    <p:sldId id="544" r:id="rId12"/>
    <p:sldId id="545" r:id="rId13"/>
    <p:sldId id="533" r:id="rId14"/>
    <p:sldId id="523" r:id="rId15"/>
    <p:sldId id="540" r:id="rId16"/>
    <p:sldId id="539" r:id="rId17"/>
    <p:sldId id="534" r:id="rId18"/>
    <p:sldId id="535" r:id="rId19"/>
    <p:sldId id="546" r:id="rId20"/>
    <p:sldId id="547" r:id="rId21"/>
    <p:sldId id="548" r:id="rId22"/>
    <p:sldId id="549" r:id="rId23"/>
    <p:sldId id="536" r:id="rId24"/>
    <p:sldId id="524" r:id="rId25"/>
    <p:sldId id="527" r:id="rId26"/>
    <p:sldId id="529" r:id="rId27"/>
    <p:sldId id="541" r:id="rId28"/>
    <p:sldId id="550" r:id="rId29"/>
    <p:sldId id="552" r:id="rId30"/>
    <p:sldId id="553" r:id="rId31"/>
    <p:sldId id="554" r:id="rId32"/>
    <p:sldId id="555" r:id="rId33"/>
    <p:sldId id="556" r:id="rId34"/>
    <p:sldId id="557" r:id="rId35"/>
    <p:sldId id="558" r:id="rId36"/>
    <p:sldId id="559" r:id="rId37"/>
    <p:sldId id="560" r:id="rId38"/>
    <p:sldId id="511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2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18" autoAdjust="0"/>
    <p:restoredTop sz="94660"/>
  </p:normalViewPr>
  <p:slideViewPr>
    <p:cSldViewPr snapToGrid="0">
      <p:cViewPr varScale="1">
        <p:scale>
          <a:sx n="72" d="100"/>
          <a:sy n="72" d="100"/>
        </p:scale>
        <p:origin x="79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A761FF-92E2-4234-80E7-FBCD75CC8193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EEACC8-8594-4EF4-A2AA-C13BFE02B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4911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23196-A33F-405A-A3DE-E65EA0B649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5357" y="2493968"/>
            <a:ext cx="10241280" cy="2387600"/>
          </a:xfrm>
        </p:spPr>
        <p:txBody>
          <a:bodyPr anchor="b">
            <a:normAutofit/>
          </a:bodyPr>
          <a:lstStyle>
            <a:lvl1pPr algn="l">
              <a:defRPr sz="4800">
                <a:solidFill>
                  <a:schemeClr val="tx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8DDF34-E2BB-43F2-85F4-069818E1F1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79712" y="4973643"/>
            <a:ext cx="10241280" cy="1192029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464D30-3CD0-4F9A-A77F-A322AC670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C9351-6833-4ACA-9B0E-1AFDFBD3FC6C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9CDDF7-0A95-4B38-9529-74BF22151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BC8A9F-4336-4D54-85CA-F423B9E8F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D6553-B421-4DB6-AAE8-4917336B08FE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C1D07459-AC3E-4FA2-9957-8F6D3360C9E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7189" y="581412"/>
            <a:ext cx="1457616" cy="1950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36742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3736D-E58B-4D29-9086-02B8A6B61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0800F8-FC3E-4721-B0ED-8902749C68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7C1CA4-3E0E-41E0-8F98-74DDE731A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C9351-6833-4ACA-9B0E-1AFDFBD3FC6C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27B61E-9F7F-4A82-9D52-33857916C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5508C7-3042-4AEC-A64C-A1A51B920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D6553-B421-4DB6-AAE8-4917336B08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0880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82AE658-E345-4A7E-B957-C48E61DCA2AF}"/>
              </a:ext>
            </a:extLst>
          </p:cNvPr>
          <p:cNvSpPr/>
          <p:nvPr userDrawn="1"/>
        </p:nvSpPr>
        <p:spPr bwMode="blackWhite">
          <a:xfrm>
            <a:off x="600891" y="1306286"/>
            <a:ext cx="10985862" cy="4336869"/>
          </a:xfrm>
          <a:prstGeom prst="rect">
            <a:avLst/>
          </a:prstGeom>
          <a:solidFill>
            <a:srgbClr val="0082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7D18A4-081D-4AB0-B6A5-98E60F533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449978"/>
            <a:ext cx="10515600" cy="2525418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BD6873-EE8E-46A9-994B-0A1F24F022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027761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BB9049-81FB-47DE-BC22-FC8CB90B4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C9351-6833-4ACA-9B0E-1AFDFBD3FC6C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D20606-8536-4F85-ADF0-CD07B80830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72E88A-E88A-4C26-9953-80DE987CC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D6553-B421-4DB6-AAE8-4917336B08FE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8B3952E-7D75-47BC-8494-456AFF21E83B}"/>
              </a:ext>
            </a:extLst>
          </p:cNvPr>
          <p:cNvCxnSpPr/>
          <p:nvPr userDrawn="1"/>
        </p:nvCxnSpPr>
        <p:spPr>
          <a:xfrm>
            <a:off x="604434" y="5742281"/>
            <a:ext cx="10983132" cy="0"/>
          </a:xfrm>
          <a:prstGeom prst="line">
            <a:avLst/>
          </a:prstGeom>
          <a:ln w="25400">
            <a:solidFill>
              <a:srgbClr val="0082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48445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9413C-8E0C-4B93-850A-39F479B6C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63DE09-8F52-4D11-8BA0-A92771EFCC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59579-B048-497A-8815-81BB51C73D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AF23EB-3E52-4FE6-841D-5D8B38AAF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C9351-6833-4ACA-9B0E-1AFDFBD3FC6C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B1F21C-B193-44DE-817B-B003DDA09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8E9138-3256-4702-B822-01FFF926F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D6553-B421-4DB6-AAE8-4917336B08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5338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9B60DD-6C4B-4C38-9C87-9CF583E8C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3603BC-A5E7-4C69-B59B-A364CCB17E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8BB681-AD2D-4F18-BF73-02ED2BCFDA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4073B8-FA48-4C77-939B-79E50CFD0B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F3B8D1-CBBB-417B-A60F-A3590869A5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E2E939C-4A13-4E2C-92AF-72F315956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C9351-6833-4ACA-9B0E-1AFDFBD3FC6C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98EC41B-C16F-460F-962E-879AF244E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20C5EAE-86C2-47E1-9953-4D207E259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D6553-B421-4DB6-AAE8-4917336B08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3129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F7C78-7B84-4CD3-B25A-446A2507B2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87CB65-E1DC-4DA3-85D3-2714C7090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C9351-6833-4ACA-9B0E-1AFDFBD3FC6C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7F9BF6-3773-485D-B941-2C0239588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4A6C13-26E2-4A34-AC7F-F5A1EA2F6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D6553-B421-4DB6-AAE8-4917336B08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1423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900817-6CD2-422A-855E-AD0A6708C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C9351-6833-4ACA-9B0E-1AFDFBD3FC6C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B33825-85ED-4313-A29D-85E65442E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A08418-9D83-47C8-948D-21CB87AA2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D6553-B421-4DB6-AAE8-4917336B08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3190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444A9-0387-4F45-8372-DEE70D4183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6E7BF2-938B-4507-943A-485887FA2A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7A17A7-8150-47FE-BEF0-917A573017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F71A09-BFD0-4013-B1E8-3481D3A0A7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C9351-6833-4ACA-9B0E-1AFDFBD3FC6C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B33DB1-E5F1-47A8-915C-EEAECFFDA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4D9822-EC4E-4B2D-86D2-EE0E0CB4C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D6553-B421-4DB6-AAE8-4917336B08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7834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7D597-3D31-4EA1-A5D2-0654F0881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0EA158A-CF75-4697-95EC-110CB3073C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F48632-67BA-48EE-B84B-6F317A5BA7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60A428-379F-4225-804E-D07EDB8B7A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C9351-6833-4ACA-9B0E-1AFDFBD3FC6C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521B47-7941-4B51-B542-ECBCC5C7D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37CB2D-D204-4E1F-B6F0-9295C5160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D6553-B421-4DB6-AAE8-4917336B08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034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52A10-3B8F-4AA9-9D5D-11C506B924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430A39-2B5B-47AD-87E5-C0C7C9EFCB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64F1BD-A74F-44F4-B942-BE30F3837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C9351-6833-4ACA-9B0E-1AFDFBD3FC6C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3EA2F6-71D2-4FEC-ADE3-93D42200D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F70B45-3CDB-4396-AAF4-2FE6689F7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D6553-B421-4DB6-AAE8-4917336B08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9047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178C8C-D822-4E6B-9851-8E000AEA63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1662D7-FFFE-4897-9858-9327490273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38E980-2575-4FBD-8AF6-E6B57EB4EF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C9351-6833-4ACA-9B0E-1AFDFBD3FC6C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5B676E-8A89-4B9E-B5DB-01E32E914E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2FB0B8-D8F9-49E3-AC1D-CFEF75612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D6553-B421-4DB6-AAE8-4917336B08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034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B44026-7673-4B7F-8BC0-D0D08F91B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389" y="330492"/>
            <a:ext cx="11207931" cy="80734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2C02EA-9F6D-4206-93EE-F04A4B6223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6389" y="1371600"/>
            <a:ext cx="11207931" cy="48053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55066C-43E4-4C74-B40F-DD09D1BD06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FC9351-6833-4ACA-9B0E-1AFDFBD3FC6C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B9B6A3-5D26-4A6A-9620-F31FFC177D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00F7B8-8334-4786-8DA1-DDA771B74B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9D6553-B421-4DB6-AAE8-4917336B08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3873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Segoe UI Light" panose="020B0502040204020203" pitchFamily="34" charset="0"/>
          <a:ea typeface="+mj-ea"/>
          <a:cs typeface="Segoe UI Light" panose="020B05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SzPct val="90000"/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Font typeface="Courier New" panose="02070309020205020404" pitchFamily="49" charset="0"/>
        <a:buChar char="o"/>
        <a:defRPr sz="20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Font typeface="Calibri" panose="020F0502020204030204" pitchFamily="34" charset="0"/>
        <a:buChar char="-"/>
        <a:defRPr sz="18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hyperlink" Target="https://id-preview--af9bde59-aa74-4f0c-821a-0fef97fbd996.lovable.app/?__lovable_token=eyJhbGciOiJIUzI1NiIsInR5cCI6IkpXVCJ9.eyJ1c2VyX2lkIjoiZ3JsWjJWVkV5cmhwdDdLSjVza2VQNUp3cG9xMiIsInByb2plY3RfaWQiOiJhZjliZGU1OS1hYTc0LTRmMGMtODIxYS0wZmVmOTdmYmQ5OTYiLCJub25jZSI6ImU2MTEyMmM0MWNlNWNjZmQzMjI0MDQzMGY0MjRhOTc5IiwiaXNzIjoibG92YWJsZS1hcGkiLCJzdWIiOiJhZjliZGU1OS1hYTc0LTRmMGMtODIxYS0wZmVmOTdmYmQ5OTYiLCJhdWQiOlsibG92YWJsZS1hcHAiXSwiZXhwIjoxNzY2MTcyMDc3LCJuYmYiOjE3NjU1NjcyNzcsImlhdCI6MTc2NTU2NzI3N30.P_UIQv-WutBpurNbK47nMHp3KBqVoAaaf7ZIBbpjdrU" TargetMode="Externa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Fizza-77/HairLytic-Part-1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C9822-BBDD-4E8C-817E-2A816979CB6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Final Year Project: </a:t>
            </a:r>
            <a:br>
              <a:rPr lang="en-US" dirty="0"/>
            </a:br>
            <a:r>
              <a:rPr lang="en-US" dirty="0" err="1"/>
              <a:t>Hairlytic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26719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Project Team</a:t>
            </a:r>
          </a:p>
        </p:txBody>
      </p:sp>
      <p:sp>
        <p:nvSpPr>
          <p:cNvPr id="307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Fizza </a:t>
            </a:r>
            <a:r>
              <a:rPr lang="en-US" dirty="0" err="1"/>
              <a:t>Ijaz</a:t>
            </a:r>
            <a:r>
              <a:rPr lang="en-US" dirty="0"/>
              <a:t> (49260)</a:t>
            </a:r>
          </a:p>
          <a:p>
            <a:r>
              <a:rPr lang="en-US" dirty="0" err="1"/>
              <a:t>Minahil</a:t>
            </a:r>
            <a:r>
              <a:rPr lang="en-US" dirty="0"/>
              <a:t> Sharif (49004)</a:t>
            </a:r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/>
              <a:t>Supervisor: Ma’am </a:t>
            </a:r>
            <a:r>
              <a:rPr lang="en-US" dirty="0" err="1"/>
              <a:t>Kanza</a:t>
            </a:r>
            <a:r>
              <a:rPr lang="en-US" dirty="0"/>
              <a:t> Zafar</a:t>
            </a:r>
          </a:p>
          <a:p>
            <a:pPr eaLnBrk="1" hangingPunct="1"/>
            <a:endParaRPr lang="en-US" dirty="0"/>
          </a:p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67315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Table of Content</a:t>
            </a:r>
          </a:p>
        </p:txBody>
      </p:sp>
      <p:sp>
        <p:nvSpPr>
          <p:cNvPr id="409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Problem </a:t>
            </a:r>
          </a:p>
          <a:p>
            <a:pPr eaLnBrk="1" hangingPunct="1"/>
            <a:r>
              <a:rPr lang="en-US" dirty="0"/>
              <a:t>Solution</a:t>
            </a:r>
          </a:p>
          <a:p>
            <a:pPr eaLnBrk="1" hangingPunct="1"/>
            <a:r>
              <a:rPr lang="en-US" dirty="0"/>
              <a:t>Progress Report Summary</a:t>
            </a:r>
          </a:p>
          <a:p>
            <a:pPr lvl="1" eaLnBrk="1" hangingPunct="1"/>
            <a:r>
              <a:rPr lang="en-US" dirty="0"/>
              <a:t>Requirements</a:t>
            </a:r>
          </a:p>
          <a:p>
            <a:pPr lvl="1" eaLnBrk="1" hangingPunct="1"/>
            <a:r>
              <a:rPr lang="en-US" dirty="0"/>
              <a:t>Design</a:t>
            </a:r>
          </a:p>
          <a:p>
            <a:pPr lvl="1" eaLnBrk="1" hangingPunct="1"/>
            <a:r>
              <a:rPr lang="en-US" dirty="0"/>
              <a:t>Implementation</a:t>
            </a:r>
          </a:p>
          <a:p>
            <a:pPr eaLnBrk="1" hangingPunct="1"/>
            <a:r>
              <a:rPr lang="en-US" dirty="0"/>
              <a:t>Next Steps</a:t>
            </a:r>
          </a:p>
          <a:p>
            <a:pPr eaLnBrk="1" hangingPunct="1"/>
            <a:r>
              <a:rPr lang="en-US" dirty="0"/>
              <a:t>Prototype / Report</a:t>
            </a:r>
          </a:p>
        </p:txBody>
      </p:sp>
    </p:spTree>
    <p:extLst>
      <p:ext uri="{BB962C8B-B14F-4D97-AF65-F5344CB8AC3E}">
        <p14:creationId xmlns:p14="http://schemas.microsoft.com/office/powerpoint/2010/main" val="21930864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32828-2378-410A-8302-2CFE7F8E3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&amp; 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978744-C176-4F6B-B20F-A9FB0996D5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err="1"/>
              <a:t>Hairlytic</a:t>
            </a:r>
            <a:r>
              <a:rPr lang="en-US" dirty="0"/>
              <a:t> is an AI-powered web platform designed to make alopecia detection accessible from home. </a:t>
            </a:r>
          </a:p>
          <a:p>
            <a:r>
              <a:rPr lang="en-US" dirty="0"/>
              <a:t>Alopecia affects millions and often goes undiagnosed because traditional evaluation requires dermatologist visits, specialized tools, and repeated clinical assessments. </a:t>
            </a:r>
          </a:p>
          <a:p>
            <a:r>
              <a:rPr lang="en-US" dirty="0" err="1"/>
              <a:t>Hairlytic</a:t>
            </a:r>
            <a:r>
              <a:rPr lang="en-US" dirty="0"/>
              <a:t> addresses this gap by combining AI scalp image analysis, medical questionnaires, report uploads, and guided self-tests such as Hair Pull, Tug, and Hair Count. </a:t>
            </a:r>
          </a:p>
          <a:p>
            <a:r>
              <a:rPr lang="en-US" dirty="0"/>
              <a:t>By integrating these features into one system, </a:t>
            </a:r>
            <a:r>
              <a:rPr lang="en-US" dirty="0" err="1"/>
              <a:t>Hairlytic</a:t>
            </a:r>
            <a:r>
              <a:rPr lang="en-US" dirty="0"/>
              <a:t> enables early detection, personalized insights, and quick access to recommended dermatologists, offering users a complete, convenient, and reliable hair-health assessment experience.</a:t>
            </a:r>
          </a:p>
        </p:txBody>
      </p:sp>
    </p:spTree>
    <p:extLst>
      <p:ext uri="{BB962C8B-B14F-4D97-AF65-F5344CB8AC3E}">
        <p14:creationId xmlns:p14="http://schemas.microsoft.com/office/powerpoint/2010/main" val="21690850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Problem Statement</a:t>
            </a:r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Alopecia is widely underdiagnosed because early detection depends on dermatologists, clinical equipment, and in-person evaluations, resources many people cannot easily access. </a:t>
            </a:r>
          </a:p>
          <a:p>
            <a:r>
              <a:rPr lang="en-US" dirty="0"/>
              <a:t>Existing hair-loss applications offer only partial features and fail to combine AI analysis, medical history, and guided self-tests into one solution. </a:t>
            </a:r>
          </a:p>
          <a:p>
            <a:r>
              <a:rPr lang="en-US" dirty="0"/>
              <a:t>As a result, patients struggle to identify the cause and severity of their hair loss, leading to delayed treatment and increased emotional distress. </a:t>
            </a:r>
          </a:p>
          <a:p>
            <a:r>
              <a:rPr lang="en-US" dirty="0"/>
              <a:t>There is a need for a unified, accurate, and accessible system that enables users to assess alopecia from home and seamlessly connect with dermatologists when needed.</a:t>
            </a:r>
          </a:p>
        </p:txBody>
      </p:sp>
    </p:spTree>
    <p:extLst>
      <p:ext uri="{BB962C8B-B14F-4D97-AF65-F5344CB8AC3E}">
        <p14:creationId xmlns:p14="http://schemas.microsoft.com/office/powerpoint/2010/main" val="35700317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err="1"/>
              <a:t>Hairlytic</a:t>
            </a:r>
            <a:r>
              <a:rPr lang="en-US" dirty="0"/>
              <a:t> provides an AI-powered, all-in-one web platform that enables users to diagnose and manage alopecia from home. </a:t>
            </a:r>
          </a:p>
          <a:p>
            <a:r>
              <a:rPr lang="en-US" dirty="0"/>
              <a:t>The system uses live scalp image analysis, guided self-tests (Hair Pull, Tug, Hair Count), medical questionnaires, and report uploads to deliver accurate insights about hair loss type and severity. </a:t>
            </a:r>
          </a:p>
          <a:p>
            <a:r>
              <a:rPr lang="en-US" dirty="0"/>
              <a:t>It also integrates dermatologist recommendations and appointment booking, offering a complete digital pathway from self-assessment to professional consultation. </a:t>
            </a:r>
          </a:p>
          <a:p>
            <a:r>
              <a:rPr lang="en-US" dirty="0"/>
              <a:t>By combining AI, real-time guidance, and medical data, </a:t>
            </a:r>
            <a:r>
              <a:rPr lang="en-US" dirty="0" err="1"/>
              <a:t>Hairlytic</a:t>
            </a:r>
            <a:r>
              <a:rPr lang="en-US" dirty="0"/>
              <a:t> makes alopecia detection faster, more accessible, and more reliable for users.</a:t>
            </a:r>
          </a:p>
        </p:txBody>
      </p:sp>
    </p:spTree>
    <p:extLst>
      <p:ext uri="{BB962C8B-B14F-4D97-AF65-F5344CB8AC3E}">
        <p14:creationId xmlns:p14="http://schemas.microsoft.com/office/powerpoint/2010/main" val="29622735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13BF5B-1469-4BE1-B878-2BAA1A815E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 and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C85594-604F-4E9B-A695-37005054F6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err="1"/>
              <a:t>Hairlytic</a:t>
            </a:r>
            <a:r>
              <a:rPr lang="en-US" dirty="0"/>
              <a:t> offers a complete, AI-driven ecosystem for at-home alopecia assessment.</a:t>
            </a:r>
          </a:p>
          <a:p>
            <a:r>
              <a:rPr lang="en-US" dirty="0"/>
              <a:t>AI-based scalp image analysis, medical and lifestyle questionnaires, medical report uploads, and guided self-tests such as Hair Pull, Tug, and Hair Count. </a:t>
            </a:r>
          </a:p>
          <a:p>
            <a:r>
              <a:rPr lang="en-US" dirty="0"/>
              <a:t>The platform also provides dermatologist recommendations, appointment booking, real-time notifications, and downloadable diagnostic reports.</a:t>
            </a:r>
          </a:p>
          <a:p>
            <a:r>
              <a:rPr lang="en-US" dirty="0"/>
              <a:t>The scope of the project focuses on delivering a web-based system that integrates AI diagnosis, patient data analysis, and professional consultation support. </a:t>
            </a:r>
          </a:p>
        </p:txBody>
      </p:sp>
    </p:spTree>
    <p:extLst>
      <p:ext uri="{BB962C8B-B14F-4D97-AF65-F5344CB8AC3E}">
        <p14:creationId xmlns:p14="http://schemas.microsoft.com/office/powerpoint/2010/main" val="17120216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Elicitation Techniques / Tools</a:t>
            </a:r>
          </a:p>
          <a:p>
            <a:pPr lvl="1"/>
            <a:r>
              <a:rPr lang="en-US" dirty="0"/>
              <a:t>Interviews: Conducted with users and dermatologists to understand needs, pain points, and expectations.</a:t>
            </a:r>
          </a:p>
          <a:p>
            <a:pPr lvl="1"/>
            <a:r>
              <a:rPr lang="en-US" dirty="0"/>
              <a:t>Market &amp; Literature Survey: Reviewed existing alopecia tools, medical research, and AI-based health applications to identify gaps and best practices.</a:t>
            </a:r>
          </a:p>
          <a:p>
            <a:pPr lvl="1"/>
            <a:r>
              <a:rPr lang="en-US" dirty="0"/>
              <a:t>Prototyping: Created UI mockups and early workflows to visualize system features and gather feedback.</a:t>
            </a:r>
          </a:p>
          <a:p>
            <a:pPr lvl="1"/>
            <a:r>
              <a:rPr lang="en-US" dirty="0"/>
              <a:t>Observation &amp; User Feedback: Studied user behavior patterns and common challenges in hair-loss assessments.</a:t>
            </a:r>
          </a:p>
          <a:p>
            <a:r>
              <a:rPr lang="en-US" dirty="0"/>
              <a:t>Specification / Documentation</a:t>
            </a:r>
          </a:p>
          <a:p>
            <a:pPr lvl="1"/>
            <a:r>
              <a:rPr lang="en-US" dirty="0"/>
              <a:t>Software Requirements Specification (SRS): Defined functional and non-functional requirements, user roles, interfaces, system features, and constraints.</a:t>
            </a:r>
          </a:p>
          <a:p>
            <a:pPr lvl="1"/>
            <a:r>
              <a:rPr lang="en-US" dirty="0"/>
              <a:t>Requirements structured according to IEEE standards for clarity, traceability, and development guidance.</a:t>
            </a:r>
          </a:p>
        </p:txBody>
      </p:sp>
    </p:spTree>
    <p:extLst>
      <p:ext uri="{BB962C8B-B14F-4D97-AF65-F5344CB8AC3E}">
        <p14:creationId xmlns:p14="http://schemas.microsoft.com/office/powerpoint/2010/main" val="17443842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sz="3800" dirty="0"/>
              <a:t>List of Different Users</a:t>
            </a:r>
          </a:p>
          <a:p>
            <a:pPr lvl="1"/>
            <a:r>
              <a:rPr lang="en-US" sz="3500" dirty="0"/>
              <a:t>Admin: Manages system, verifies dermatologists, updates AI model, handles users &amp; notifications.</a:t>
            </a:r>
          </a:p>
          <a:p>
            <a:pPr lvl="1"/>
            <a:r>
              <a:rPr lang="en-US" sz="3500" dirty="0"/>
              <a:t>Dermatologist / Owner: Manages profile, sets availability, views patient reports, accepts/rejects appointments.</a:t>
            </a:r>
          </a:p>
          <a:p>
            <a:pPr lvl="1"/>
            <a:r>
              <a:rPr lang="en-US" sz="3500" dirty="0"/>
              <a:t>Customer / General User: Performs AI scans, fills questionnaires, uploads reports, completes self-tests, views results, and books appointments.</a:t>
            </a:r>
          </a:p>
          <a:p>
            <a:r>
              <a:rPr lang="en-US" sz="3800" dirty="0"/>
              <a:t>Use Cases</a:t>
            </a:r>
          </a:p>
          <a:p>
            <a:pPr lvl="1"/>
            <a:r>
              <a:rPr lang="en-US" sz="3400" dirty="0"/>
              <a:t>User Registration &amp; Login</a:t>
            </a:r>
          </a:p>
          <a:p>
            <a:pPr lvl="1"/>
            <a:r>
              <a:rPr lang="en-US" sz="3400" dirty="0"/>
              <a:t>AI-Based Alopecia Detection</a:t>
            </a:r>
          </a:p>
          <a:p>
            <a:pPr lvl="1"/>
            <a:r>
              <a:rPr lang="en-US" sz="3400" dirty="0"/>
              <a:t>Hair Pull / Tug / Hair Count Tests</a:t>
            </a:r>
          </a:p>
          <a:p>
            <a:pPr lvl="1"/>
            <a:r>
              <a:rPr lang="en-US" sz="3400" dirty="0"/>
              <a:t>View Diagnostic Report</a:t>
            </a:r>
          </a:p>
          <a:p>
            <a:pPr lvl="1"/>
            <a:r>
              <a:rPr lang="en-US" sz="3400" dirty="0"/>
              <a:t>Book Dermatologist Appointment</a:t>
            </a:r>
          </a:p>
        </p:txBody>
      </p:sp>
    </p:spTree>
    <p:extLst>
      <p:ext uri="{BB962C8B-B14F-4D97-AF65-F5344CB8AC3E}">
        <p14:creationId xmlns:p14="http://schemas.microsoft.com/office/powerpoint/2010/main" val="25691783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35567-D39E-4496-A338-2740E0705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Case Diagram: User</a:t>
            </a:r>
          </a:p>
        </p:txBody>
      </p:sp>
      <p:pic>
        <p:nvPicPr>
          <p:cNvPr id="5" name="Content Placeholder 4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2586" y="1371600"/>
            <a:ext cx="6996354" cy="480536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54851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35567-D39E-4496-A338-2740E0705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Case Diagram: Dermatologist</a:t>
            </a:r>
          </a:p>
        </p:txBody>
      </p:sp>
      <p:pic>
        <p:nvPicPr>
          <p:cNvPr id="7" name="Content Placeholder 6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880" y="1371600"/>
            <a:ext cx="5729765" cy="480536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98010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35567-D39E-4496-A338-2740E0705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Case Diagram: Admin</a:t>
            </a:r>
          </a:p>
        </p:txBody>
      </p:sp>
      <p:pic>
        <p:nvPicPr>
          <p:cNvPr id="6" name="Content Placeholder 5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3888" y="1593056"/>
            <a:ext cx="5873750" cy="43624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482775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345E7-E3D3-487B-9CD0-49D409A0B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Functional &amp; Non Functional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A0275C-D8C4-477F-ABE3-EA9F84424B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Functional Requirements</a:t>
            </a:r>
          </a:p>
          <a:p>
            <a:pPr lvl="1"/>
            <a:r>
              <a:rPr lang="en-US" sz="2200" dirty="0"/>
              <a:t>Secure registration &amp; login</a:t>
            </a:r>
          </a:p>
          <a:p>
            <a:pPr lvl="1"/>
            <a:r>
              <a:rPr lang="en-US" sz="2200" dirty="0"/>
              <a:t>Capture/upload scalp images</a:t>
            </a:r>
          </a:p>
          <a:p>
            <a:pPr lvl="1"/>
            <a:r>
              <a:rPr lang="en-US" sz="2200" dirty="0"/>
              <a:t>AI diagnosis for alopecia type &amp; severity</a:t>
            </a:r>
          </a:p>
          <a:p>
            <a:pPr lvl="1"/>
            <a:r>
              <a:rPr lang="en-US" sz="2200" dirty="0"/>
              <a:t>Medical questionnaire + report storage</a:t>
            </a:r>
          </a:p>
          <a:p>
            <a:pPr lvl="1"/>
            <a:r>
              <a:rPr lang="en-US" sz="2200" dirty="0"/>
              <a:t>At-home test guidance &amp; analysis</a:t>
            </a:r>
          </a:p>
          <a:p>
            <a:pPr lvl="1"/>
            <a:r>
              <a:rPr lang="en-US" sz="2200" dirty="0"/>
              <a:t>Dermatologist finder + appointment booking</a:t>
            </a:r>
          </a:p>
          <a:p>
            <a:r>
              <a:rPr lang="en-US" dirty="0"/>
              <a:t>Non-Functional Requirements</a:t>
            </a:r>
          </a:p>
          <a:p>
            <a:pPr lvl="1"/>
            <a:r>
              <a:rPr lang="en-US" sz="2200" dirty="0"/>
              <a:t>Performance: AI results in 5–10 seconds, fast page loading</a:t>
            </a:r>
          </a:p>
          <a:p>
            <a:pPr lvl="1"/>
            <a:r>
              <a:rPr lang="en-US" sz="2200" dirty="0"/>
              <a:t>Security: OAuth 2.0, encrypted data, role-based access</a:t>
            </a:r>
          </a:p>
          <a:p>
            <a:pPr lvl="1"/>
            <a:r>
              <a:rPr lang="en-US" sz="2200" dirty="0"/>
              <a:t>Usability: Simple, intuitive UI with guided steps</a:t>
            </a:r>
          </a:p>
          <a:p>
            <a:pPr lvl="1"/>
            <a:r>
              <a:rPr lang="en-US" sz="2200" dirty="0"/>
              <a:t>Portability: Works on all modern browsers/devices</a:t>
            </a:r>
          </a:p>
        </p:txBody>
      </p:sp>
    </p:spTree>
    <p:extLst>
      <p:ext uri="{BB962C8B-B14F-4D97-AF65-F5344CB8AC3E}">
        <p14:creationId xmlns:p14="http://schemas.microsoft.com/office/powerpoint/2010/main" val="21417395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Architecture Design</a:t>
            </a:r>
          </a:p>
          <a:p>
            <a:r>
              <a:rPr lang="en-US" dirty="0"/>
              <a:t>Entity Relationship Diagram</a:t>
            </a:r>
          </a:p>
          <a:p>
            <a:r>
              <a:rPr lang="en-US" dirty="0"/>
              <a:t>Class Diagram</a:t>
            </a:r>
          </a:p>
          <a:p>
            <a:r>
              <a:rPr lang="en-US" dirty="0"/>
              <a:t>Sequence / Collaboration Diagram</a:t>
            </a:r>
          </a:p>
          <a:p>
            <a:r>
              <a:rPr lang="en-US" dirty="0"/>
              <a:t>Activity Diagram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39850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E7DA3-6EDD-489E-8538-415BA9844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Architecture Design</a:t>
            </a:r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9813" y="1574006"/>
            <a:ext cx="7581900" cy="44005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644766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5681E-BC9E-4771-9AD9-886C04812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Entity Relationship Diagram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7708749-1429-4524-B860-D892A9E05C38}"/>
              </a:ext>
            </a:extLst>
          </p:cNvPr>
          <p:cNvSpPr/>
          <p:nvPr/>
        </p:nvSpPr>
        <p:spPr>
          <a:xfrm>
            <a:off x="496389" y="1137841"/>
            <a:ext cx="11207931" cy="5389667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3786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51659-8479-4791-B021-F530DA25A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Class Diagram</a:t>
            </a:r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8729" y="1011507"/>
            <a:ext cx="5823249" cy="584649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669088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2FDCE-058A-41BD-BBCF-11B1E60F5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Sequence / Collaboration Diagram : Login/Register</a:t>
            </a:r>
            <a:r>
              <a:rPr lang="en-US" b="1" dirty="0"/>
              <a:t> </a:t>
            </a:r>
            <a:r>
              <a:rPr lang="en-US" dirty="0"/>
              <a:t>  </a:t>
            </a:r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0460" y="1371600"/>
            <a:ext cx="9880605" cy="480536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26717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2FDCE-058A-41BD-BBCF-11B1E60F5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Sequence / Collaboration Diagram : Alopecia Detection     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619" y="1371600"/>
            <a:ext cx="4580287" cy="4805363"/>
          </a:xfrm>
        </p:spPr>
      </p:pic>
    </p:spTree>
    <p:extLst>
      <p:ext uri="{BB962C8B-B14F-4D97-AF65-F5344CB8AC3E}">
        <p14:creationId xmlns:p14="http://schemas.microsoft.com/office/powerpoint/2010/main" val="26117674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2FDCE-058A-41BD-BBCF-11B1E60F5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Sequence / Collaboration Diagram :</a:t>
            </a:r>
            <a:r>
              <a:rPr lang="en-US" b="1" dirty="0"/>
              <a:t> </a:t>
            </a:r>
            <a:r>
              <a:rPr lang="en-US" dirty="0"/>
              <a:t>Dermatologist Appointment Booking </a:t>
            </a:r>
            <a:r>
              <a:rPr lang="en-US" b="1" dirty="0"/>
              <a:t> </a:t>
            </a:r>
            <a:r>
              <a:rPr lang="en-US" dirty="0"/>
              <a:t> </a:t>
            </a:r>
          </a:p>
        </p:txBody>
      </p:sp>
      <p:pic>
        <p:nvPicPr>
          <p:cNvPr id="5" name="Content Placeholder 4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888" y="1659170"/>
            <a:ext cx="11207750" cy="423022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680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2FDCE-058A-41BD-BBCF-11B1E60F5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Sequence / Collaboration Diagram : User History   </a:t>
            </a:r>
          </a:p>
        </p:txBody>
      </p:sp>
      <p:pic>
        <p:nvPicPr>
          <p:cNvPr id="5" name="Content Placeholder 4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1812131"/>
            <a:ext cx="8848725" cy="39243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058170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2FDCE-058A-41BD-BBCF-11B1E60F5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Sequence / Collaboration Diagram : Dermatologist Appointment Management     </a:t>
            </a:r>
          </a:p>
        </p:txBody>
      </p:sp>
      <p:pic>
        <p:nvPicPr>
          <p:cNvPr id="6" name="Content Placeholder 5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1293" y="1371600"/>
            <a:ext cx="9158939" cy="480536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630455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11EB9-8A3D-4866-9CB8-47C5C73CB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Activity Diagram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1030" y="251297"/>
            <a:ext cx="4378648" cy="6606703"/>
          </a:xfrm>
        </p:spPr>
      </p:pic>
    </p:spTree>
    <p:extLst>
      <p:ext uri="{BB962C8B-B14F-4D97-AF65-F5344CB8AC3E}">
        <p14:creationId xmlns:p14="http://schemas.microsoft.com/office/powerpoint/2010/main" val="5717818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sz="3100" dirty="0"/>
              <a:t>Development Tools &amp; Technologies</a:t>
            </a:r>
          </a:p>
          <a:p>
            <a:pPr lvl="1"/>
            <a:r>
              <a:rPr lang="en-US" sz="2500" dirty="0"/>
              <a:t>Frontend: React.js, HTML5, CSS3, Tailwind CSS</a:t>
            </a:r>
          </a:p>
          <a:p>
            <a:pPr lvl="1"/>
            <a:r>
              <a:rPr lang="en-US" sz="2500" dirty="0"/>
              <a:t>Backend: Python (Flask / </a:t>
            </a:r>
            <a:r>
              <a:rPr lang="en-US" sz="2500" dirty="0" err="1"/>
              <a:t>FastAPI</a:t>
            </a:r>
            <a:r>
              <a:rPr lang="en-US" sz="2500" dirty="0"/>
              <a:t>), REST APIs, MongoDB</a:t>
            </a:r>
          </a:p>
          <a:p>
            <a:pPr lvl="1"/>
            <a:r>
              <a:rPr lang="en-US" sz="2500" dirty="0"/>
              <a:t>AI &amp; Image Processing: </a:t>
            </a:r>
            <a:r>
              <a:rPr lang="en-US" sz="2500" dirty="0" err="1"/>
              <a:t>TensorFlow</a:t>
            </a:r>
            <a:r>
              <a:rPr lang="en-US" sz="2500" dirty="0"/>
              <a:t> / </a:t>
            </a:r>
            <a:r>
              <a:rPr lang="en-US" sz="2500" dirty="0" err="1"/>
              <a:t>PyTorch</a:t>
            </a:r>
            <a:r>
              <a:rPr lang="en-US" sz="2500" dirty="0"/>
              <a:t>, </a:t>
            </a:r>
            <a:r>
              <a:rPr lang="en-US" sz="2500" dirty="0" err="1"/>
              <a:t>OpenCV</a:t>
            </a:r>
            <a:endParaRPr lang="en-US" sz="2500" dirty="0"/>
          </a:p>
          <a:p>
            <a:pPr lvl="1"/>
            <a:r>
              <a:rPr lang="en-US" sz="2500" dirty="0"/>
              <a:t>Version Control: </a:t>
            </a:r>
            <a:r>
              <a:rPr lang="en-US" sz="2500" dirty="0" err="1"/>
              <a:t>Git</a:t>
            </a:r>
            <a:r>
              <a:rPr lang="en-US" sz="2500" dirty="0"/>
              <a:t> &amp; GitHub</a:t>
            </a:r>
            <a:endParaRPr lang="en-US" dirty="0"/>
          </a:p>
          <a:p>
            <a:r>
              <a:rPr lang="en-US" sz="3100" dirty="0"/>
              <a:t>Best Practices / Coding Standards</a:t>
            </a:r>
          </a:p>
          <a:p>
            <a:pPr lvl="1"/>
            <a:r>
              <a:rPr lang="en-US" sz="2500" dirty="0"/>
              <a:t>Clean, modular, and well-commented code</a:t>
            </a:r>
          </a:p>
          <a:p>
            <a:pPr lvl="1"/>
            <a:r>
              <a:rPr lang="en-US" sz="2500" dirty="0"/>
              <a:t>Reusable components and modular APIs</a:t>
            </a:r>
          </a:p>
          <a:p>
            <a:pPr lvl="1"/>
            <a:r>
              <a:rPr lang="en-US" sz="2500" dirty="0"/>
              <a:t>Proper error handling &amp; input validation</a:t>
            </a:r>
          </a:p>
          <a:p>
            <a:pPr lvl="1"/>
            <a:r>
              <a:rPr lang="en-US" sz="2500" dirty="0"/>
              <a:t>Secure authentication and authorization practices</a:t>
            </a:r>
          </a:p>
          <a:p>
            <a:pPr lvl="1"/>
            <a:r>
              <a:rPr lang="en-US" sz="2500" dirty="0"/>
              <a:t>Regular commits with meaningful messages</a:t>
            </a:r>
          </a:p>
          <a:p>
            <a:r>
              <a:rPr lang="en-US" sz="3100" dirty="0"/>
              <a:t>Libraries / Components / Web Services</a:t>
            </a:r>
          </a:p>
          <a:p>
            <a:pPr lvl="1"/>
            <a:r>
              <a:rPr lang="en-US" sz="2500" dirty="0"/>
              <a:t>AI Libraries: </a:t>
            </a:r>
            <a:r>
              <a:rPr lang="en-US" sz="2500" dirty="0" err="1"/>
              <a:t>NumPy</a:t>
            </a:r>
            <a:r>
              <a:rPr lang="en-US" sz="2500" dirty="0"/>
              <a:t>, </a:t>
            </a:r>
            <a:r>
              <a:rPr lang="en-US" sz="2500" dirty="0" err="1"/>
              <a:t>TensorFlow</a:t>
            </a:r>
            <a:r>
              <a:rPr lang="en-US" sz="2500" dirty="0"/>
              <a:t>/</a:t>
            </a:r>
            <a:r>
              <a:rPr lang="en-US" sz="2500" dirty="0" err="1"/>
              <a:t>PyTorch</a:t>
            </a:r>
            <a:r>
              <a:rPr lang="en-US" sz="2500" dirty="0"/>
              <a:t>, </a:t>
            </a:r>
            <a:r>
              <a:rPr lang="en-US" sz="2500" dirty="0" err="1"/>
              <a:t>Scikit</a:t>
            </a:r>
            <a:r>
              <a:rPr lang="en-US" sz="2500" dirty="0"/>
              <a:t>-learn</a:t>
            </a:r>
          </a:p>
          <a:p>
            <a:pPr lvl="1"/>
            <a:r>
              <a:rPr lang="en-US" sz="2500" dirty="0"/>
              <a:t>Frontend Libraries: </a:t>
            </a:r>
            <a:r>
              <a:rPr lang="en-US" sz="2500" dirty="0" err="1"/>
              <a:t>Axios</a:t>
            </a:r>
            <a:r>
              <a:rPr lang="en-US" sz="2500" dirty="0"/>
              <a:t>, React Router</a:t>
            </a:r>
          </a:p>
          <a:p>
            <a:pPr lvl="1"/>
            <a:r>
              <a:rPr lang="en-US" sz="2500" dirty="0"/>
              <a:t>Backend Tools: </a:t>
            </a:r>
            <a:r>
              <a:rPr lang="en-US" sz="2500" dirty="0" err="1"/>
              <a:t>PyMongo</a:t>
            </a:r>
            <a:r>
              <a:rPr lang="en-US" sz="2500" dirty="0"/>
              <a:t>, OAuth 2.0 </a:t>
            </a:r>
            <a:r>
              <a:rPr lang="en-US" sz="2500" dirty="0" err="1"/>
              <a:t>auth</a:t>
            </a:r>
            <a:endParaRPr lang="en-US" sz="2500" dirty="0"/>
          </a:p>
          <a:p>
            <a:pPr lvl="1"/>
            <a:r>
              <a:rPr lang="en-US" sz="2500" dirty="0"/>
              <a:t>Web Services: Google Maps API (clinic search)</a:t>
            </a:r>
          </a:p>
        </p:txBody>
      </p:sp>
    </p:spTree>
    <p:extLst>
      <p:ext uri="{BB962C8B-B14F-4D97-AF65-F5344CB8AC3E}">
        <p14:creationId xmlns:p14="http://schemas.microsoft.com/office/powerpoint/2010/main" val="25363909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Challenges</a:t>
            </a:r>
          </a:p>
        </p:txBody>
      </p:sp>
      <p:sp>
        <p:nvSpPr>
          <p:cNvPr id="1024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Capturing High-Quality Images: Users may provide unclear or poorly lit scalp images, reducing AI accuracy. </a:t>
            </a:r>
          </a:p>
          <a:p>
            <a:r>
              <a:rPr lang="en-US" dirty="0"/>
              <a:t>User Compliance: Ensuring users correctly follow guided tests (Hair Pull, Tug, Hair Count) can be difficult. </a:t>
            </a:r>
          </a:p>
          <a:p>
            <a:r>
              <a:rPr lang="en-US" dirty="0"/>
              <a:t>AI Model Accuracy: Requires diverse datasets and continuous model refinement to avoid misclassification. </a:t>
            </a:r>
          </a:p>
          <a:p>
            <a:r>
              <a:rPr lang="en-US" dirty="0"/>
              <a:t>Integration Complexity: Combining AI analysis, questionnaires, reports, and test simulations into one platform. </a:t>
            </a:r>
          </a:p>
          <a:p>
            <a:r>
              <a:rPr lang="en-US" dirty="0"/>
              <a:t>Real-Time Processing: Delivering fast results while handling heavy image-processing workloads. </a:t>
            </a:r>
          </a:p>
          <a:p>
            <a:r>
              <a:rPr lang="en-US" dirty="0"/>
              <a:t>Data Security &amp; Privacy: Protecting sensitive medical data and ensuring secure storage and transmission. </a:t>
            </a:r>
          </a:p>
          <a:p>
            <a:r>
              <a:rPr lang="en-US" dirty="0"/>
              <a:t>Device &amp; Network Limitations: Varying camera quality and unstable internet can affect system performance.</a:t>
            </a:r>
          </a:p>
        </p:txBody>
      </p:sp>
    </p:spTree>
    <p:extLst>
      <p:ext uri="{BB962C8B-B14F-4D97-AF65-F5344CB8AC3E}">
        <p14:creationId xmlns:p14="http://schemas.microsoft.com/office/powerpoint/2010/main" val="34479675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Prototype</a:t>
            </a:r>
          </a:p>
        </p:txBody>
      </p:sp>
      <p:sp>
        <p:nvSpPr>
          <p:cNvPr id="1024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/>
            <a:r>
              <a:rPr lang="en-US" dirty="0">
                <a:hlinkClick r:id="rId2"/>
              </a:rPr>
              <a:t>https://id-preview--af9bde59-aa74-4f0c-821a-0fef97fbd996.lovable.app/?__lovable_token=eyJhbGciOiJIUzI1NiIsInR5cCI6IkpXVCJ9.eyJ1c2VyX2lkIjoiZ3JsWjJWVkV5cmhwdDdLSjVza2VQNUp3cG9xMiIsInByb2plY3RfaWQiOiJhZjliZGU1OS1hYTc0LTRmMGMtODIxYS0wZmVmOTdmYmQ5OTYiLCJub25jZSI6ImU2MTEyMmM0MWNlNWNjZmQzMjI0MDQzMGY0MjRhOTc5IiwiaXNzIjoibG92YWJsZS1hcGkiLCJzdWIiOiJhZjliZGU1OS1hYTc0LTRmMGMtODIxYS0wZmVmOTdmYmQ5OTYiLCJhdWQiOlsibG92YWJsZS1hcHAiXSwiZXhwIjoxNzY2MTcyMDc3LCJuYmYiOjE3NjU1NjcyNzcsImlhdCI6MTc2NTU2NzI3N30.P_UIQv-WutBpurNbK47nMHp3KBqVoAaaf7ZIBbpjdr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511013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D969D-9190-4B2A-ADB1-4A9EDF472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Screenshots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6888" y="1481375"/>
            <a:ext cx="11207750" cy="4585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914724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6888" y="1274619"/>
            <a:ext cx="11207750" cy="4617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54012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2725" y="886011"/>
            <a:ext cx="11491913" cy="4746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833919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  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492" y="1077668"/>
            <a:ext cx="11905724" cy="4682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67995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8478" y="1485900"/>
            <a:ext cx="11136159" cy="4606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668079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9700" y="365478"/>
            <a:ext cx="12331700" cy="6326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74734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 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20700"/>
            <a:ext cx="11994316" cy="5286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469819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62883" y="101600"/>
            <a:ext cx="12476804" cy="6610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663062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49" y="647699"/>
            <a:ext cx="12066010" cy="5998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033796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883336" cy="6975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836528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2725" y="886011"/>
            <a:ext cx="11491913" cy="4746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41343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3C69A-2D6F-4E40-B1C5-7A86FE927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Report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2EE507-A0F5-4FAB-96CE-9826EC8E66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hlinkClick r:id="rId2"/>
              </a:rPr>
              <a:t>https://github.com/Fizza-77/HairLytic-Part-1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34524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1637</TotalTime>
  <Words>1076</Words>
  <Application>Microsoft Office PowerPoint</Application>
  <PresentationFormat>Widescreen</PresentationFormat>
  <Paragraphs>118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5" baseType="lpstr">
      <vt:lpstr>Arial</vt:lpstr>
      <vt:lpstr>Calibri</vt:lpstr>
      <vt:lpstr>Courier New</vt:lpstr>
      <vt:lpstr>Segoe UI</vt:lpstr>
      <vt:lpstr>Segoe UI Light</vt:lpstr>
      <vt:lpstr>Wingdings</vt:lpstr>
      <vt:lpstr>Office Theme</vt:lpstr>
      <vt:lpstr>Final Year Project:  Hairlytic</vt:lpstr>
      <vt:lpstr>Project Team</vt:lpstr>
      <vt:lpstr>Table of Content</vt:lpstr>
      <vt:lpstr>Introduction &amp; Background</vt:lpstr>
      <vt:lpstr>Problem Statement</vt:lpstr>
      <vt:lpstr>Solution</vt:lpstr>
      <vt:lpstr>Features and Scope</vt:lpstr>
      <vt:lpstr>Requirements</vt:lpstr>
      <vt:lpstr>Requirements</vt:lpstr>
      <vt:lpstr>Use Case Diagram: User</vt:lpstr>
      <vt:lpstr>Use Case Diagram: Dermatologist</vt:lpstr>
      <vt:lpstr>Use Case Diagram: Admin</vt:lpstr>
      <vt:lpstr>Functional &amp; Non Functional Requirements</vt:lpstr>
      <vt:lpstr>System Design</vt:lpstr>
      <vt:lpstr>Architecture Design</vt:lpstr>
      <vt:lpstr>Entity Relationship Diagram</vt:lpstr>
      <vt:lpstr>Class Diagram</vt:lpstr>
      <vt:lpstr>Sequence / Collaboration Diagram : Login/Register   </vt:lpstr>
      <vt:lpstr>Sequence / Collaboration Diagram : Alopecia Detection     </vt:lpstr>
      <vt:lpstr>Sequence / Collaboration Diagram : Dermatologist Appointment Booking   </vt:lpstr>
      <vt:lpstr>Sequence / Collaboration Diagram : User History   </vt:lpstr>
      <vt:lpstr>Sequence / Collaboration Diagram : Dermatologist Appointment Management     </vt:lpstr>
      <vt:lpstr>Activity Diagram</vt:lpstr>
      <vt:lpstr>Implementation</vt:lpstr>
      <vt:lpstr>Challenges</vt:lpstr>
      <vt:lpstr>Prototype</vt:lpstr>
      <vt:lpstr>Screenshots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Report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Sheheryar Malik</dc:creator>
  <cp:lastModifiedBy>Manahil</cp:lastModifiedBy>
  <cp:revision>571</cp:revision>
  <cp:lastPrinted>2017-10-31T06:19:01Z</cp:lastPrinted>
  <dcterms:created xsi:type="dcterms:W3CDTF">2017-10-28T17:48:40Z</dcterms:created>
  <dcterms:modified xsi:type="dcterms:W3CDTF">2025-12-13T03:39:42Z</dcterms:modified>
</cp:coreProperties>
</file>